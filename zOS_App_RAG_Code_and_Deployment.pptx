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16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332720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A6C8FF"/>
                </a:solidFill>
                <a:latin typeface="IBM Plex Sans"/>
              </a:defRPr>
            </a:pPr>
            <a:r>
              <a:t>PRESENTER'S TECHNICAL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17320"/>
            <a:ext cx="10424160" cy="12801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App, RAG Code</a:t>
            </a:r>
          </a:p>
          <a:p>
            <a:pPr algn="l">
              <a:spcAft>
                <a:spcPts val="500"/>
              </a:spcAft>
              <a:defRPr sz="3600" b="1">
                <a:solidFill>
                  <a:srgbClr val="FFFFFF"/>
                </a:solidFill>
                <a:latin typeface="IBM Plex Sans"/>
              </a:defRPr>
            </a:pPr>
            <a:r>
              <a:t>&amp; Deployment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2999232"/>
            <a:ext cx="9875520" cy="8229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900" b="0">
                <a:solidFill>
                  <a:srgbClr val="C6C6C6"/>
                </a:solidFill>
                <a:latin typeface="IBM Plex Sans"/>
              </a:defRPr>
            </a:pPr>
            <a:r>
              <a:t>A step-by-step explanation of what each Python module does, which packages it needs, and how to run it.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389120"/>
            <a:ext cx="1005840" cy="64008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4736592"/>
            <a:ext cx="10058400" cy="3657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A6C8FF"/>
                </a:solidFill>
                <a:latin typeface="IBM Plex Sans"/>
              </a:defRPr>
            </a:pPr>
            <a:r>
              <a:t>Streamlit  •  pandas  •  scikit-learn  •  openpyxl  •  optional watsonx.ai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6446520"/>
            <a:ext cx="987552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A8A8A8"/>
                </a:solidFill>
                <a:latin typeface="IBM Plex Sans"/>
              </a:defRPr>
            </a:pPr>
            <a:r>
              <a:t>IBM Carbon-inspired presentation style; not an IBM-certified product.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01 / PROJECT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Start with the project 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02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27632"/>
            <a:ext cx="5029200" cy="42976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737360"/>
            <a:ext cx="4754880" cy="41148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zos_watsonx/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app.py                 # Streamlit screens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compatibility_db.py    # data and Excel logic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rag_engine.py          # search + Granite answer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requirements.txt       # Python packages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Dockerfile             # container startup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data/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  *_compat.csv         # vendor records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DEPLOY_CODE_ENGINE.md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FFFFFF"/>
                </a:solidFill>
                <a:latin typeface="Consolas"/>
              </a:defRPr>
            </a:pPr>
            <a:r>
              <a:t>  MAINFRAME_WATSON_ASSISTANT_DEPLOYMENT.md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44768" y="1737360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44768" y="1737360"/>
            <a:ext cx="50292" cy="11430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1883664"/>
            <a:ext cx="4709159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App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27648" y="2267712"/>
            <a:ext cx="4709159" cy="52120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What the user sees and interacts with.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44768" y="3090672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44768" y="3090672"/>
            <a:ext cx="50292" cy="114300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27648" y="3236976"/>
            <a:ext cx="4709159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Data / RAG layers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621024"/>
            <a:ext cx="4709159" cy="52120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How records are checked and questions are answered.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44768" y="4443984"/>
            <a:ext cx="507492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44768" y="4443984"/>
            <a:ext cx="50292" cy="1143000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27648" y="4590288"/>
            <a:ext cx="4709159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Runtime / deployment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27648" y="4974336"/>
            <a:ext cx="4709159" cy="52120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How Python packages and the application run as a service.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02 / APP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app.py: startup and shared helpers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03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72821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627632"/>
            <a:ext cx="56967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Imports Streamlit, pandas, compatibility functions, and RAG functions.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38658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286000"/>
            <a:ext cx="56967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Sets the browser page title and wide layout.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044951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944368"/>
            <a:ext cx="56967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Defines the data folder, Excel MIME type, link display, and status options.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703320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602736"/>
            <a:ext cx="56967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Applies IBM Carbon-inspired CSS: typography, colors, tabs, tables, and cards.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361688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261104"/>
            <a:ext cx="56967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Loads the base CSV database once with Streamlit's resource cache.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8096" y="502005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9264" y="4919472"/>
            <a:ext cx="56967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Merges any user-uploaded correction rows from session state.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03720" y="1783080"/>
            <a:ext cx="4343400" cy="34290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0" y="1892807"/>
            <a:ext cx="4069080" cy="32461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@st.cache_resource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def load_base():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return CompatibilityDB.load(DATA_DIR)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def get_db():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return load_base().merged_with(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    st.session_state.get('extra')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# Reuse the same prepared CSV data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# across Streamlit reruns.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669280"/>
            <a:ext cx="10241280" cy="4114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Streamlit reruns the script after many user actions; caching avoids rereading the base files each time.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02 / APP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app.py: reusable display helpers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3456432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50292" cy="182880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3090672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show_table(...)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3090672" cy="120700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Converts internal column names into readable columns, shows a table, and makes vendor links clickable.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664208"/>
            <a:ext cx="3456432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664208"/>
            <a:ext cx="50292" cy="182880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10512"/>
            <a:ext cx="3090672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metrics(...)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94560"/>
            <a:ext cx="3090672" cy="120700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Calls the database summary function and displays product, compatible, PTF, unsupported, and unknown counts.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664208"/>
            <a:ext cx="3456432" cy="18288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664208"/>
            <a:ext cx="50292" cy="1828800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810512"/>
            <a:ext cx="3090672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Load / guard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194560"/>
            <a:ext cx="3090672" cy="120700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Loads the database at startup. If required data files are missing, the app reports an error instead of showing an empty dashboard.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3931920"/>
            <a:ext cx="10241280" cy="146304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9848" y="4041648"/>
            <a:ext cx="9966959" cy="12801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0">
                <a:solidFill>
                  <a:srgbClr val="FFFFFF"/>
                </a:solidFill>
                <a:latin typeface="Consolas"/>
              </a:defRPr>
            </a:pPr>
            <a:r>
              <a:t>CSV rows  -&gt;  CompatibilityDB  -&gt;  summarize / to_output  -&gt;  Streamlit metric + table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60720"/>
            <a:ext cx="10241280" cy="3657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500" b="0">
                <a:solidFill>
                  <a:srgbClr val="525252"/>
                </a:solidFill>
                <a:latin typeface="IBM Plex Sans"/>
              </a:defRPr>
            </a:pPr>
            <a:r>
              <a:t>The app is the presentation and workflow layer; the compatibility rules live in compatibility_db.py.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02 / APP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app.py: Overview tab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9222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691640"/>
            <a:ext cx="54681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User selects target release: 3.2, 3.1, or 2.5.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42032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441448"/>
            <a:ext cx="54681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The selected release maps to the right status and PTF columns.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91840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191256"/>
            <a:ext cx="54681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KPI cards summarize the full portfolio.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041648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941064"/>
            <a:ext cx="54681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Charts group the records by status and vendor.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9145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690872"/>
            <a:ext cx="546811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A review list prioritizes No, In Progress, Unverified, and PTF rows.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76288" y="1828800"/>
            <a:ext cx="4343400" cy="324612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13448" y="1938528"/>
            <a:ext cx="4069080" cy="306323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scol = VER[version][0]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pcol = VER[version][1]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stats = db.summarize(db.df, version)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# Counts are based on the selected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# release, not a model prediction.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# The chart groups CSV rows.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69280"/>
            <a:ext cx="10332720" cy="4114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Overview is a portfolio snapshot; the detailed matrix is where users investigate individual records.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02 / APP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app.py: matrix and inventory workflows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700784"/>
            <a:ext cx="523036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00784"/>
            <a:ext cx="50292" cy="356616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47088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Compatibility matrix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31136"/>
            <a:ext cx="4864607" cy="294436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1. Choose vendors and statuses.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2. Optionally filter by PTF or search text.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3. A release comparison can highlight products marked Yes on the previous release but No on the target.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4. Download the full workbook or the filtered rows.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700784"/>
            <a:ext cx="5230368" cy="356616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700784"/>
            <a:ext cx="50292" cy="356616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47088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Check my products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231136"/>
            <a:ext cx="4864607" cy="294436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1. Select rows from the product list, or upload CSV/XLSX inventory.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2. Inventory must contain Vendor, Product, VRM columns.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3. Match rows and report products or versions not found.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4. Show blockers, PTF reminders, source links, and Excel export.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650992"/>
            <a:ext cx="1033272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A missing inventory match is reported as a miss; it is never silently counted as supported.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02 / APP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app.py: Ask, Sources, and exports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9222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691640"/>
            <a:ext cx="62910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Ask tab passes the user's question to RagIndex and retrieves matching rows.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514600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414016"/>
            <a:ext cx="62910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Granite is called only if watsonx.ai credentials are configured.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23697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136392"/>
            <a:ext cx="62910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If Granite is absent or generation fails, matching evidence rows remain available.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959352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858768"/>
            <a:ext cx="62910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Sources tab lists official vendor URLs for human verification.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681728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581144"/>
            <a:ext cx="62910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Excel exports are built by compatibility_db.py and include source/notes sheets.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607808" y="1828800"/>
            <a:ext cx="3611880" cy="301752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44968" y="1938528"/>
            <a:ext cx="3337560" cy="283463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if question: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rows = RagIndex.build(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    db.df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).retrieve(question, k)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if use_llm: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    answer = generate_answer(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        question, rows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    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else: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    show_table(rows)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23560"/>
            <a:ext cx="10424160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watsonx.ai Granite is an optional explanation layer; the CSV rows and vendor pages are the evidence.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03 / RAG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rag_engine.py: what RAG means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658368" y="2011680"/>
            <a:ext cx="2359152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2011680"/>
            <a:ext cx="2359152" cy="731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5528" y="2322576"/>
            <a:ext cx="2084831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1616"/>
                </a:solidFill>
                <a:latin typeface="IBM Plex Sans"/>
              </a:defRPr>
            </a:pPr>
            <a:r>
              <a:t>ASK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6" y="2761488"/>
            <a:ext cx="2048256" cy="56692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Question typed by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54096" y="2606040"/>
            <a:ext cx="420624" cy="3657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38728" y="2011680"/>
            <a:ext cx="2359152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38728" y="2011680"/>
            <a:ext cx="2359152" cy="731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75888" y="2322576"/>
            <a:ext cx="2084831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1616"/>
                </a:solidFill>
                <a:latin typeface="IBM Plex Sans"/>
              </a:defRPr>
            </a:pPr>
            <a:r>
              <a:t>FIND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761488"/>
            <a:ext cx="2048256" cy="56692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TF-IDF finds similar rows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34456" y="2606040"/>
            <a:ext cx="420624" cy="3657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19088" y="2011680"/>
            <a:ext cx="2359152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19088" y="2011680"/>
            <a:ext cx="2359152" cy="73152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6248" y="2322576"/>
            <a:ext cx="2084831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1616"/>
                </a:solidFill>
                <a:latin typeface="IBM Plex Sans"/>
              </a:defRPr>
            </a:pPr>
            <a:r>
              <a:t>GROUND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74536" y="2761488"/>
            <a:ext cx="2048256" cy="56692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Rows are supplied as evidence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14816" y="2606040"/>
            <a:ext cx="420624" cy="3657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2200" b="1">
                <a:solidFill>
                  <a:srgbClr val="0F62FE"/>
                </a:solidFill>
                <a:latin typeface="IBM Plex Sans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99448" y="2011680"/>
            <a:ext cx="2359152" cy="160020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299448" y="2011680"/>
            <a:ext cx="2359152" cy="73152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436608" y="2322576"/>
            <a:ext cx="2084831" cy="2743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161616"/>
                </a:solidFill>
                <a:latin typeface="IBM Plex Sans"/>
              </a:defRPr>
            </a:pPr>
            <a:r>
              <a:t>EXPLAIN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54896" y="2761488"/>
            <a:ext cx="2048256" cy="56692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Granite writes a concise answer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700" b="1">
                <a:solidFill>
                  <a:srgbClr val="161616"/>
                </a:solidFill>
                <a:latin typeface="IBM Plex Sans"/>
              </a:defRPr>
            </a:pPr>
            <a:r>
              <a:t>Retrieval narrows the evidence first; the model is not asked to answer from general knowledge alone.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5010912"/>
            <a:ext cx="10241280" cy="7315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If credentials are missing, the app still shows retrieved rows. This is watsonx.ai, not a direct watsonx Assistant connection.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03 / RAG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rag_engine.py: build the search index and retrieve rows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09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72821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627632"/>
            <a:ext cx="56509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RagIndex.build() turns every row into searchable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43230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331720"/>
            <a:ext cx="56509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Text includes vendor, product, VRM, z/OS statuses, PTF, EOS, latest version, and comments.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3136392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3035808"/>
            <a:ext cx="56509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TfidfVectorizer converts words and two-word phrases into weighted numeric features.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840480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739896"/>
            <a:ext cx="56509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retrieve() vectorizes the question and compares it with each row.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544568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443984"/>
            <a:ext cx="56509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Cosine similarity ranks rows; only positive matches up to top_k are returned.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94576" y="1783080"/>
            <a:ext cx="4315968" cy="3493008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31736" y="1892807"/>
            <a:ext cx="4041648" cy="3310127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vec = TfidfVectorizer(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stop_words='english',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ngram_range=(1, 2),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sublinear_tf=True,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scores = cosine_similarity(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vectorizer.transform([query]),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  matrix,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).ravel()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return top positive matches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650992"/>
            <a:ext cx="1033272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0F62FE"/>
                </a:solidFill>
                <a:latin typeface="IBM Plex Sans"/>
              </a:defRPr>
            </a:pPr>
            <a:r>
              <a:t>TF-IDF is keyword/statistical text matching—not a vector database, live web search, or guaranteed semantic understanding.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03 / RAG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rag_engine.py: optional Granite answer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10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64792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664208"/>
            <a:ext cx="5742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watsonx_configured() checks for API key plus project ID or space ID.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5973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59152"/>
            <a:ext cx="5742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generate_answer() converts retrieved rows into a compact evidence list.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54679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054096"/>
            <a:ext cx="5742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It sends a system instruction, user question, and evidence to Granite chat.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4962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749040"/>
            <a:ext cx="5742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Prompt asks the model not to invent compatibility, PTFs, versions, or 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544568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443984"/>
            <a:ext cx="5742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Configured values are read from environment variables / runtime secrets.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95160" y="1810512"/>
            <a:ext cx="4206240" cy="3310128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32320" y="1920240"/>
            <a:ext cx="3931920" cy="31272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WATSONX_APIKEY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WATSONX_PROJECT_ID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# or WATSONX_SPACE_ID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WATSONX_URL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WATSONX_MODEL_ID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ModelInference(...).chat(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messages=[system, user],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  params={temperature: 0}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5596128"/>
            <a:ext cx="1033272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DA1E28"/>
                </a:solidFill>
                <a:latin typeface="IBM Plex Sans"/>
              </a:defRPr>
            </a:pPr>
            <a:r>
              <a:t>Never hard-code or commit API keys. No credentials? Retrieval-only mode still works.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03 / RAG CODE EXPLAINED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What the current RAG does—and does not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11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737360"/>
            <a:ext cx="5230368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737360"/>
            <a:ext cx="50292" cy="338328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83664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It DOES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267712"/>
            <a:ext cx="4864607" cy="2761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Searches packaged CSV rows.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Ranks records using text similarity.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Lets Granite explain retrieved evidence when enabled.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Keeps evidence rows visible in the UI.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737360"/>
            <a:ext cx="5230368" cy="33832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737360"/>
            <a:ext cx="50292" cy="3383280"/>
          </a:xfrm>
          <a:prstGeom prst="rect">
            <a:avLst/>
          </a:prstGeom>
          <a:solidFill>
            <a:srgbClr val="DA1E28"/>
          </a:solidFill>
          <a:ln>
            <a:solidFill>
              <a:srgbClr val="DA1E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83664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It DOES NOT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267712"/>
            <a:ext cx="4864607" cy="2761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Crawl vendor websites or keep data automatically current.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Guarantee that the best row is retrieved for every phrasing.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Connect to watsonx Assistant.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Replace vendor confirmation or production change control.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532120"/>
            <a:ext cx="1024128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Important implementation detail: the current Ask flow rebuilds the TF-IDF index when a question is submitted.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04 /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Packages: what must be installed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12</a:t>
            </a:r>
          </a:p>
        </p:txBody>
      </p:sp>
      <p:sp>
        <p:nvSpPr>
          <p:cNvPr id="9" name="Rectangle 8"/>
          <p:cNvSpPr/>
          <p:nvPr/>
        </p:nvSpPr>
        <p:spPr>
          <a:xfrm>
            <a:off x="786384" y="1645920"/>
            <a:ext cx="3794760" cy="53035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46504"/>
            <a:ext cx="3566160" cy="29260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streamlit &gt;= 1.50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46320" y="1719072"/>
            <a:ext cx="635508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UI, tabs, file upload, charts, downloads, session state.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" y="2404872"/>
            <a:ext cx="3794760" cy="53035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2505456"/>
            <a:ext cx="3566160" cy="29260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pandas &gt;= 2.0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2478024"/>
            <a:ext cx="635508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Read and manipulate vendor CSVs and inventory tables.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6384" y="3163824"/>
            <a:ext cx="3794760" cy="53035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3264408"/>
            <a:ext cx="3566160" cy="29260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scikit-learn &gt;= 1.4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46320" y="3236976"/>
            <a:ext cx="635508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TF-IDF vectorizer and cosine similarity for RAG retrieval.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" y="3922776"/>
            <a:ext cx="3794760" cy="53035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023360"/>
            <a:ext cx="3566160" cy="29260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openpyxl &gt;= 3.1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995928"/>
            <a:ext cx="635508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Create formatted Excel workbooks with hyperlinks.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86384" y="4681728"/>
            <a:ext cx="3794760" cy="53035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4782312"/>
            <a:ext cx="3566160" cy="29260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1">
                <a:solidFill>
                  <a:srgbClr val="FFFFFF"/>
                </a:solidFill>
                <a:latin typeface="IBM Plex Sans"/>
              </a:defRPr>
            </a:pPr>
            <a:r>
              <a:t>ibm-watsonx-ai &gt;= 1.1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4754880"/>
            <a:ext cx="6355080" cy="384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Optional Granite inference API client.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5669280"/>
            <a:ext cx="10241280" cy="4754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Python standard library modules (os, datetime, glob, io, re, dataclasses) need no pip install.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04 / DEPENDENCIES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Runtime and deployment tools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13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3456432" cy="3611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50292" cy="361188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3090672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Application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3090672" cy="29900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Python 3.12 is used by the Dockerfile.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Install app packages with: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pip install -r requirements.txt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Run locally with: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streamlit run app.py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61688" y="1664208"/>
            <a:ext cx="3456432" cy="3611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664208"/>
            <a:ext cx="50292" cy="361188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44568" y="1810512"/>
            <a:ext cx="3090672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Container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44568" y="2194560"/>
            <a:ext cx="3090672" cy="29900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Docker or compatible image builder.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Approved container registry.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IBM Cloud CLI + Code Engine plugin only for IBM Cloud Code Engine.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For zCX: z/OS admin-provisioned container service and network.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973568" y="1664208"/>
            <a:ext cx="3456432" cy="3611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73568" y="1664208"/>
            <a:ext cx="50292" cy="3611880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56448" y="1810512"/>
            <a:ext cx="3090672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Optional AI route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2194560"/>
            <a:ext cx="3090672" cy="29900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IBM Cloud API key.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watsonx.ai project or space ID.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Supported model ID and regional endpoint.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Outbound HTTPS connectivity to watsonx.ai.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632704"/>
            <a:ext cx="10332720" cy="4114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NumPy / SciPy and other transitive dependencies are installed automatically where compatible wheels are available.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05 / DEPLOYMENT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Step 1: install and test locally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14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0078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600200"/>
            <a:ext cx="51937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Unzip the complete project; keep the data folder beside app.py.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34086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240280"/>
            <a:ext cx="51937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Install Python 3.12 and the packages in requirements.txt.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98094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2880360"/>
            <a:ext cx="51937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Start Streamlit and open the local URL.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62102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520439"/>
            <a:ext cx="51937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Test overview, matrix filters, inventory, and Excel export.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2611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160520"/>
            <a:ext cx="519379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Ask tab works in retrieval-only mode without watsonx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92240" y="1783080"/>
            <a:ext cx="4617720" cy="1115568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892807"/>
            <a:ext cx="4343400" cy="9326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py -3.12 -m pip install -r requirements.txt</a:t>
            </a:r>
          </a:p>
          <a:p>
            <a:pPr algn="l">
              <a:spcAft>
                <a:spcPts val="500"/>
              </a:spcAft>
              <a:defRPr sz="1200" b="0">
                <a:solidFill>
                  <a:srgbClr val="FFFFFF"/>
                </a:solidFill>
                <a:latin typeface="Consolas"/>
              </a:defRPr>
            </a:pPr>
            <a:r>
              <a:t>py -3.12 -m streamlit run app.py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3218688"/>
            <a:ext cx="4617720" cy="150876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3328416"/>
            <a:ext cx="4343400" cy="1325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# Local browser URL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http://localhost:8501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# Keep all six CSVs in ./data/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577840"/>
            <a:ext cx="1033272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Use a virtual environment for isolated dependencies; never store production secrets in source files.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05 / DEPLOYMENT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Step 2: deploy to IBM Cloud Code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768096" y="1673352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9264" y="1572768"/>
            <a:ext cx="50566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1616"/>
                </a:solidFill>
                <a:latin typeface="IBM Plex Sans"/>
              </a:defRPr>
            </a:pPr>
            <a:r>
              <a:t>Create/choose an IBM Cloud account, region, resource group, and Code Engine project.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68096" y="229514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194560"/>
            <a:ext cx="50566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1616"/>
                </a:solidFill>
                <a:latin typeface="IBM Plex Sans"/>
              </a:defRPr>
            </a:pPr>
            <a:r>
              <a:t>Install/login to IBM Cloud CLI; install the Code Engine plugin.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8096" y="2916936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9264" y="2816352"/>
            <a:ext cx="50566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1616"/>
                </a:solidFill>
                <a:latin typeface="IBM Plex Sans"/>
              </a:defRPr>
            </a:pPr>
            <a:r>
              <a:t>Optional: store watsonx credentials in a Code Engine secret.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8096" y="3538727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9264" y="3438144"/>
            <a:ext cx="50566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1616"/>
                </a:solidFill>
                <a:latin typeface="IBM Plex Sans"/>
              </a:defRPr>
            </a:pPr>
            <a:r>
              <a:t>Run the create command from the project folder; Code Engine builds the Dockerfile.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8096" y="4160520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059936"/>
            <a:ext cx="50566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161616"/>
                </a:solidFill>
                <a:latin typeface="IBM Plex Sans"/>
              </a:defRPr>
            </a:pPr>
            <a:r>
              <a:t>Retrieve the app URL, then test the deployed workflow.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1627632"/>
            <a:ext cx="4983480" cy="137160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737360"/>
            <a:ext cx="4709160" cy="11887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ibmcloud plugin install code-engine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ibmcloud login --sso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ibmcloud target -r us-south -g YOUR_GROUP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ibmcloud ce project create --name zos-compat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ibmcloud ce project select --name zos-compat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273552"/>
            <a:ext cx="4983480" cy="117043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383280"/>
            <a:ext cx="4709160" cy="98755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ibmcloud ce application create --name zos-compat `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--build-source . --strategy dockerfile `</a:t>
            </a:r>
          </a:p>
          <a:p>
            <a:pPr algn="l">
              <a:spcAft>
                <a:spcPts val="500"/>
              </a:spcAft>
              <a:defRPr sz="1000" b="0">
                <a:solidFill>
                  <a:srgbClr val="FFFFFF"/>
                </a:solidFill>
                <a:latin typeface="Consolas"/>
              </a:defRPr>
            </a:pPr>
            <a:r>
              <a:t>  --port 8080 --min-scale 1 --cpu 1 --memory 4G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846320"/>
            <a:ext cx="10424160" cy="34747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1">
                <a:solidFill>
                  <a:srgbClr val="0F62FE"/>
                </a:solidFill>
                <a:latin typeface="IBM Plex Sans"/>
              </a:defRPr>
            </a:pPr>
            <a:r>
              <a:t>With Granite, create a secret and add: --env-from-secret watsonx-creds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6112" y="5321808"/>
            <a:ext cx="10195560" cy="621792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1" y="5431536"/>
            <a:ext cx="992124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ibmcloud ce application get --name zos-compat --output url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05 / DEPLOYMENT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Step 3: deploy in a mainframe environment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16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5230368" cy="3611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50292" cy="361188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Recommended: zCX or Linux on IBM 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4864607" cy="29900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1. Ask the z/OS or Linux administrator to provision runtime, CPU/memory, network, and registry access.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2. Build a container for the target architecture (commonly Linux s390x); test all dependency wheels.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3. Push the image to the approved registry.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4. Admin deploys it using the site's zCX/Linux runbook.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664208"/>
            <a:ext cx="5230368" cy="361188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64208"/>
            <a:ext cx="50292" cy="3611880"/>
          </a:xfrm>
          <a:prstGeom prst="rect">
            <a:avLst/>
          </a:prstGeom>
          <a:solidFill>
            <a:srgbClr val="24A148"/>
          </a:solidFill>
          <a:ln>
            <a:solidFill>
              <a:srgbClr val="24A1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10512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Expose it safely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94560"/>
            <a:ext cx="4864607" cy="299008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5. Route HTTPS traffic to container port 8080.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6. Allow WebSocket upgrades through reverse proxy/load balancer.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7. Add authentication, TLS, firewall controls, logging, and restart policy.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8. Test from an approved client network.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596128"/>
            <a:ext cx="10378440" cy="43891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DA1E28"/>
                </a:solidFill>
                <a:latin typeface="IBM Plex Sans"/>
              </a:defRPr>
            </a:pPr>
            <a:r>
              <a:t>Do not assume x86-built images work on IBM Z. Native USS package support must be validated separately.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05 / DEPLOYMENT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What the Dockerfile does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664208"/>
            <a:ext cx="6492240" cy="3977639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8408" y="1773936"/>
            <a:ext cx="6217920" cy="3794759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FROM python:3.12-slim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WORKDIR /app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COPY requirements.txt 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RUN pip install -r requirements.txt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COPY . .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EXPOSE 8080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CMD ["streamlit", "run", "app.py",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"--server.port=8080",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"--server.address=0.0.0.0",</a:t>
            </a:r>
          </a:p>
          <a:p>
            <a:pPr algn="l">
              <a:spcAft>
                <a:spcPts val="500"/>
              </a:spcAft>
              <a:defRPr sz="1300" b="0">
                <a:solidFill>
                  <a:srgbClr val="FFFFFF"/>
                </a:solidFill>
                <a:latin typeface="Consolas"/>
              </a:defRPr>
            </a:pPr>
            <a:r>
              <a:t>     "--server.headless=true"]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26679" y="197510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27848" y="1874519"/>
            <a:ext cx="33192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Selects Python base image.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26679" y="266090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27848" y="2560320"/>
            <a:ext cx="33192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Installs declared packages.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26679" y="334670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7848" y="3246120"/>
            <a:ext cx="33192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Copies app and CSV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26679" y="40325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7848" y="3931920"/>
            <a:ext cx="33192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Starts Streamlit on port 8080.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26679" y="47183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7848" y="4617720"/>
            <a:ext cx="331927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161616"/>
                </a:solidFill>
                <a:latin typeface="IBM Plex Sans"/>
              </a:defRPr>
            </a:pPr>
            <a:r>
              <a:t>Binds to all interfaces for container traffic.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6112" y="5852160"/>
            <a:ext cx="10241280" cy="32004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300" b="0">
                <a:solidFill>
                  <a:srgbClr val="525252"/>
                </a:solidFill>
                <a:latin typeface="IBM Plex Sans"/>
              </a:defRPr>
            </a:pPr>
            <a:r>
              <a:t>The target host must be able to pull the correct CPU architecture image and reach its configured port.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06 /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Credentials, security, and Assistant distinction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49808" y="1664208"/>
            <a:ext cx="5230368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8" y="1664208"/>
            <a:ext cx="50292" cy="32918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1810512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watsonx.ai / Granite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194560"/>
            <a:ext cx="4864607" cy="2670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Needs API key + project ID or space ID.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Inject values using a secret manager.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Allow outbound HTTPS to the matching regional endpoint.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Model ID must be available in the project/region.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0488" y="1664208"/>
            <a:ext cx="5230368" cy="3291840"/>
          </a:xfrm>
          <a:prstGeom prst="rect">
            <a:avLst/>
          </a:prstGeom>
          <a:solidFill>
            <a:srgbClr val="FFFFFF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1664208"/>
            <a:ext cx="50292" cy="3291840"/>
          </a:xfrm>
          <a:prstGeom prst="rect">
            <a:avLst/>
          </a:prstGeom>
          <a:solidFill>
            <a:srgbClr val="F1C21B"/>
          </a:solidFill>
          <a:ln>
            <a:solidFill>
              <a:srgbClr val="F1C2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73368" y="1810512"/>
            <a:ext cx="4864607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600" b="1">
                <a:solidFill>
                  <a:srgbClr val="161616"/>
                </a:solidFill>
                <a:latin typeface="IBM Plex Sans"/>
              </a:defRPr>
            </a:pPr>
            <a:r>
              <a:t>watsonx Assistant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73368" y="2194560"/>
            <a:ext cx="4864607" cy="267004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Not currently called by this code.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Assistant can link users to the dashboard.</a:t>
            </a: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</a:p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For direct data lookup, build a secured HTTPS API/webhook and configure an Assistant action.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2" y="5303520"/>
            <a:ext cx="10287000" cy="50292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DA1E28"/>
                </a:solidFill>
                <a:latin typeface="IBM Plex Sans"/>
              </a:defRPr>
            </a:pPr>
            <a:r>
              <a:t>Code Engine apps may be public by default. Require approved authentication before using with internal data.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06 / PRODUCTION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Go-live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19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17465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1645920"/>
            <a:ext cx="10314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All six CSVs are packaged; record counts and sources are reviewed.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243230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2331720"/>
            <a:ext cx="10314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Target architecture image builds; pip install succeeds on target runtime.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118103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017520"/>
            <a:ext cx="10314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Local and staging checks pass: matrix, upload matching, workbook, Ask fallback.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38039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24128" y="3703320"/>
            <a:ext cx="10314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HTTPS, authentication, WebSockets, DNS, firewall, and secrets are tested.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4897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389120"/>
            <a:ext cx="10314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Granite is tested only if enabled; fallback works when AI service is unavailable.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175504"/>
            <a:ext cx="91440" cy="91440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5074920"/>
            <a:ext cx="10314432" cy="4572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500" b="0">
                <a:solidFill>
                  <a:srgbClr val="161616"/>
                </a:solidFill>
                <a:latin typeface="IBM Plex Sans"/>
              </a:defRPr>
            </a:pPr>
            <a:r>
              <a:t>Monitoring, logs, patching, data refresh owner, and rollback image are documented.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68680" y="5806440"/>
            <a:ext cx="10287000" cy="384048"/>
          </a:xfrm>
          <a:prstGeom prst="rect">
            <a:avLst/>
          </a:prstGeom>
          <a:solidFill>
            <a:srgbClr val="FFF3CD"/>
          </a:solidFill>
          <a:ln>
            <a:solidFill>
              <a:srgbClr val="FFF3C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5852160"/>
            <a:ext cx="10104120" cy="25603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300" b="1">
                <a:solidFill>
                  <a:srgbClr val="161616"/>
                </a:solidFill>
                <a:latin typeface="IBM Plex Sans"/>
              </a:defRPr>
            </a:pPr>
            <a:r>
              <a:t>Always verify compatibility with vendor sources before production changes.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4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F62FE"/>
          </a:solidFill>
          <a:ln>
            <a:solidFill>
              <a:srgbClr val="0F6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1097280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000" b="1">
                <a:solidFill>
                  <a:srgbClr val="0F62FE"/>
                </a:solidFill>
                <a:latin typeface="IBM Plex Sans"/>
              </a:defRPr>
            </a:pPr>
            <a:r>
              <a:t>07 / PRESENTER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585216"/>
            <a:ext cx="10972800" cy="59436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2700" b="1">
                <a:solidFill>
                  <a:srgbClr val="161616"/>
                </a:solidFill>
                <a:latin typeface="IBM Plex Sans"/>
              </a:defRPr>
            </a:pPr>
            <a:r>
              <a:t>Where to look in the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280160"/>
            <a:ext cx="11045952" cy="13716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6492240"/>
            <a:ext cx="11045952" cy="10972"/>
          </a:xfrm>
          <a:prstGeom prst="rect">
            <a:avLst/>
          </a:prstGeom>
          <a:solidFill>
            <a:srgbClr val="E0E0E0"/>
          </a:solidFill>
          <a:ln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547104"/>
            <a:ext cx="9692640" cy="164592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800" b="0">
                <a:solidFill>
                  <a:srgbClr val="525252"/>
                </a:solidFill>
                <a:latin typeface="IBM Plex Sans"/>
              </a:defRPr>
            </a:pPr>
            <a:r>
              <a:t>z/OS Compatibility Dashboard  |  Code and deployment guide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528816"/>
            <a:ext cx="566928" cy="18288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r">
              <a:spcAft>
                <a:spcPts val="500"/>
              </a:spcAft>
              <a:defRPr sz="800" b="1">
                <a:solidFill>
                  <a:srgbClr val="525252"/>
                </a:solidFill>
                <a:latin typeface="IBM Plex Sans"/>
              </a:defRPr>
            </a:pPr>
            <a:r>
              <a:t>20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1600200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0976" y="1673352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app.py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41648" y="1655064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UI, tabs, user flows, display helpers, optional RAG call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" y="2185416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0976" y="2258568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compatibility_db.py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41648" y="2240280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CSV loading, normalization, matching, filtering, summaries, Excel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41248" y="2770632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2843784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rag_engine.py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41648" y="2825496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TF-IDF search, source formatting, watsonx.ai Granite invocation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41248" y="3355848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0976" y="3429000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requirements.txt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41648" y="3410712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Direct Python dependencies and minimum versions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" y="3941064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" y="4014216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Dockerfile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41648" y="3995928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Python runtime, package installation, Streamlit port/start command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41248" y="4526280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599432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DEPLOY_CODE_ENGINE.md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41648" y="4581144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IBM Cloud Code Engine deployment commands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41248" y="5111496"/>
            <a:ext cx="2926080" cy="411480"/>
          </a:xfrm>
          <a:prstGeom prst="rect">
            <a:avLst/>
          </a:prstGeom>
          <a:solidFill>
            <a:srgbClr val="161616"/>
          </a:solidFill>
          <a:ln>
            <a:solidFill>
              <a:srgbClr val="1616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976" y="5184648"/>
            <a:ext cx="2697480" cy="228600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200" b="1">
                <a:solidFill>
                  <a:srgbClr val="FFFFFF"/>
                </a:solidFill>
                <a:latin typeface="Consolas"/>
              </a:defRPr>
            </a:pPr>
            <a:r>
              <a:t>MAINFRAME_WATSON_ASSISTANT_DEPLOYMENT.md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41648" y="5166359"/>
            <a:ext cx="7040880" cy="310896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l">
              <a:spcAft>
                <a:spcPts val="500"/>
              </a:spcAft>
              <a:defRPr sz="1400" b="0">
                <a:solidFill>
                  <a:srgbClr val="525252"/>
                </a:solidFill>
                <a:latin typeface="IBM Plex Sans"/>
              </a:defRPr>
            </a:pPr>
            <a:r>
              <a:t>zCX/Linux on IBM Z and Assistant integration guidance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" y="5907024"/>
            <a:ext cx="10241280" cy="292608"/>
          </a:xfrm>
          <a:prstGeom prst="rect">
            <a:avLst/>
          </a:prstGeom>
          <a:noFill/>
        </p:spPr>
        <p:txBody>
          <a:bodyPr wrap="square" lIns="64008" rIns="64008" tIns="36576" bIns="36576">
            <a:spAutoFit/>
          </a:bodyPr>
          <a:lstStyle/>
          <a:p>
            <a:pPr algn="ctr">
              <a:spcAft>
                <a:spcPts val="500"/>
              </a:spcAft>
              <a:defRPr sz="1400" b="1">
                <a:solidFill>
                  <a:srgbClr val="0F62FE"/>
                </a:solidFill>
                <a:latin typeface="IBM Plex Sans"/>
              </a:defRPr>
            </a:pPr>
            <a:r>
              <a:t>Simple summary: app.py shows it, compatibility_db.py checks it, rag_engine.py finds and explains it.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