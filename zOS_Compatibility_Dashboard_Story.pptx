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424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A6C8FF"/>
                </a:solidFill>
                <a:latin typeface="IBM Plex Sans"/>
              </a:defRPr>
            </a:pPr>
            <a:r>
              <a:t>IBM Z  /  z/OS MIGRATION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241280" cy="1463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IBM Plex Sans"/>
              </a:defRPr>
            </a:pPr>
            <a:r>
              <a:t>z/OS Product</a:t>
            </a:r>
          </a:p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IBM Plex Sans"/>
              </a:defRPr>
            </a:pPr>
            <a:r>
              <a:t>Compatibility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3474720"/>
            <a:ext cx="950976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C6C6C6"/>
                </a:solidFill>
                <a:latin typeface="IBM Plex Sans"/>
              </a:defRPr>
            </a:pPr>
            <a:r>
              <a:t>A simple way to review vendor support, product versions, and migration risks.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4809744"/>
            <a:ext cx="1051560" cy="64008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5093208"/>
            <a:ext cx="96012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A6C8FF"/>
                </a:solidFill>
                <a:latin typeface="IBM Plex Sans"/>
              </a:defRPr>
            </a:pPr>
            <a:r>
              <a:t>Six vendors  •  Three z/OS releases  •  One evidence-led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6437376"/>
            <a:ext cx="9601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A8A8"/>
                </a:solidFill>
                <a:latin typeface="IBM Plex Sans"/>
              </a:defRPr>
            </a:pPr>
            <a:r>
              <a:t>IBM Carbon-inspired visual style; this project is not an IBM-certified product.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01  / 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61616"/>
                </a:solidFill>
                <a:latin typeface="IBM Plex Sans"/>
              </a:defRPr>
            </a:pPr>
            <a:r>
              <a:t>Why this dashboard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64240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65392"/>
            <a:ext cx="98755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Presentation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47104"/>
            <a:ext cx="566928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525252"/>
                </a:solidFill>
                <a:latin typeface="IBM Plex Sans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691640"/>
            <a:ext cx="352044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0292" cy="333756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56232"/>
            <a:ext cx="3136392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Scattered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50008"/>
            <a:ext cx="3136392" cy="2587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Compatibility details are spread across vendor websites, product pages, and spreadsheets.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1691640"/>
            <a:ext cx="352044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691640"/>
            <a:ext cx="50292" cy="3337560"/>
          </a:xfrm>
          <a:prstGeom prst="rect">
            <a:avLst/>
          </a:prstGeom>
          <a:solidFill>
            <a:srgbClr val="F1C21B"/>
          </a:solidFill>
          <a:ln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856232"/>
            <a:ext cx="3136392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Hard to 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350008"/>
            <a:ext cx="3136392" cy="2587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Teams must check many products, versions, z/OS releases, and maintenance requirements.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4" y="1691640"/>
            <a:ext cx="352044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691640"/>
            <a:ext cx="50292" cy="3337560"/>
          </a:xfrm>
          <a:prstGeom prst="rect">
            <a:avLst/>
          </a:prstGeom>
          <a:solidFill>
            <a:srgbClr val="DA1E28"/>
          </a:solidFill>
          <a:ln>
            <a:solidFill>
              <a:srgbClr val="DA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856232"/>
            <a:ext cx="3136392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Unknown is not 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350008"/>
            <a:ext cx="3136392" cy="2587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Missing vendor evidence can be overlooked if uncertainty is not made visible.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40680"/>
            <a:ext cx="1069848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161616"/>
                </a:solidFill>
                <a:latin typeface="IBM Plex Sans"/>
              </a:defRPr>
            </a:pPr>
            <a:r>
              <a:t>Goal: make migration research easier to review, explain, and verify.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02  /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61616"/>
                </a:solidFill>
                <a:latin typeface="IBM Plex Sans"/>
              </a:defRPr>
            </a:pPr>
            <a:r>
              <a:t>A single view for migration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64240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65392"/>
            <a:ext cx="98755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Presentation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47104"/>
            <a:ext cx="566928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525252"/>
                </a:solidFill>
                <a:latin typeface="IBM Plex Sans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828800"/>
            <a:ext cx="3401568" cy="193852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301752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3800" b="1">
                <a:solidFill>
                  <a:srgbClr val="0F62FE"/>
                </a:solidFill>
                <a:latin typeface="IBM Plex Sans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61488"/>
            <a:ext cx="30175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1616"/>
                </a:solidFill>
                <a:latin typeface="IBM Plex Sans"/>
              </a:defRPr>
            </a:pPr>
            <a:r>
              <a:t>VENDORS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82112"/>
            <a:ext cx="3017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525252"/>
                </a:solidFill>
                <a:latin typeface="IBM Plex Sans"/>
              </a:defRPr>
            </a:pPr>
            <a:r>
              <a:t>IBM • Broadcom • BMC</a:t>
            </a:r>
          </a:p>
          <a:p>
            <a:pPr algn="ctr">
              <a:spcAft>
                <a:spcPts val="800"/>
              </a:spcAft>
              <a:defRPr sz="1200" b="0">
                <a:solidFill>
                  <a:srgbClr val="525252"/>
                </a:solidFill>
                <a:latin typeface="IBM Plex Sans"/>
              </a:defRPr>
            </a:pPr>
            <a:r>
              <a:t>Rocket • Precisely • ASG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3401568" cy="193852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029968"/>
            <a:ext cx="301752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3800" b="1">
                <a:solidFill>
                  <a:srgbClr val="0F62FE"/>
                </a:solidFill>
                <a:latin typeface="IBM Plex San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761488"/>
            <a:ext cx="30175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1616"/>
                </a:solidFill>
                <a:latin typeface="IBM Plex Sans"/>
              </a:defRPr>
            </a:pPr>
            <a:r>
              <a:t>Z/OS RELEASES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182112"/>
            <a:ext cx="3017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525252"/>
                </a:solidFill>
                <a:latin typeface="IBM Plex Sans"/>
              </a:defRPr>
            </a:pPr>
            <a:r>
              <a:t>3.2 • 3.1 • 2.5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94192" y="1828800"/>
            <a:ext cx="3401568" cy="193852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2029968"/>
            <a:ext cx="301752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3800" b="1">
                <a:solidFill>
                  <a:srgbClr val="0F62FE"/>
                </a:solidFill>
                <a:latin typeface="IBM Plex Sans"/>
              </a:defRPr>
            </a:pPr>
            <a:r>
              <a:t>240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761488"/>
            <a:ext cx="30175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1616"/>
                </a:solidFill>
                <a:latin typeface="IBM Plex Sans"/>
              </a:defRPr>
            </a:pPr>
            <a:r>
              <a:t>RECORDS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182112"/>
            <a:ext cx="3017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525252"/>
                </a:solidFill>
                <a:latin typeface="IBM Plex Sans"/>
              </a:defRPr>
            </a:pPr>
            <a:r>
              <a:t>Current packaged CSV snapshot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0432" y="4361688"/>
            <a:ext cx="100584" cy="10058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8176" y="4251960"/>
            <a:ext cx="9546336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161616"/>
                </a:solidFill>
                <a:latin typeface="IBM Plex Sans"/>
              </a:defRPr>
            </a:pPr>
            <a:r>
              <a:t>Search and filter the compatibility matrix.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0432" y="4928616"/>
            <a:ext cx="100584" cy="10058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08176" y="4818888"/>
            <a:ext cx="9546336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161616"/>
                </a:solidFill>
                <a:latin typeface="IBM Plex Sans"/>
              </a:defRPr>
            </a:pPr>
            <a:r>
              <a:t>Check a product selection or upload an inventory.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70432" y="5495544"/>
            <a:ext cx="100584" cy="10058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08176" y="5385816"/>
            <a:ext cx="9546336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161616"/>
                </a:solidFill>
                <a:latin typeface="IBM Plex Sans"/>
              </a:defRPr>
            </a:pPr>
            <a:r>
              <a:t>Export results with vendor source links.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03  / 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61616"/>
                </a:solidFill>
                <a:latin typeface="IBM Plex Sans"/>
              </a:defRPr>
            </a:pPr>
            <a:r>
              <a:t>How the parts work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64240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65392"/>
            <a:ext cx="98755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Presentation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47104"/>
            <a:ext cx="566928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525252"/>
                </a:solidFill>
                <a:latin typeface="IBM Plex Sans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3160"/>
            <a:ext cx="242316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2423160" cy="8229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88336"/>
            <a:ext cx="214884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1616"/>
                </a:solidFill>
                <a:latin typeface="IBM Plex Sans"/>
              </a:defRPr>
            </a:pPr>
            <a:r>
              <a:t>1  DATA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099816"/>
            <a:ext cx="2130552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Vendor CSV files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product + version +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880360"/>
            <a:ext cx="384048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0F62FE"/>
                </a:solidFill>
                <a:latin typeface="IBM Plex Sans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38728" y="2423160"/>
            <a:ext cx="242316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8728" y="2423160"/>
            <a:ext cx="2423160" cy="82296"/>
          </a:xfrm>
          <a:prstGeom prst="rect">
            <a:avLst/>
          </a:prstGeom>
          <a:solidFill>
            <a:srgbClr val="24A148"/>
          </a:solidFill>
          <a:ln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2688336"/>
            <a:ext cx="214884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1616"/>
                </a:solidFill>
                <a:latin typeface="IBM Plex Sans"/>
              </a:defRPr>
            </a:pPr>
            <a:r>
              <a:t>2  COMPATIBILITY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099816"/>
            <a:ext cx="2130552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Load • clean • match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filter • summarize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880360"/>
            <a:ext cx="384048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0F62FE"/>
                </a:solidFill>
                <a:latin typeface="IBM Plex Sans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37376" y="2423160"/>
            <a:ext cx="242316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37376" y="2423160"/>
            <a:ext cx="2423160" cy="8229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2688336"/>
            <a:ext cx="214884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1616"/>
                </a:solidFill>
                <a:latin typeface="IBM Plex Sans"/>
              </a:defRPr>
            </a:pPr>
            <a:r>
              <a:t>3  STREAMLIT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099816"/>
            <a:ext cx="2130552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Overview • matrix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inventory • exports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2880360"/>
            <a:ext cx="384048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0F62FE"/>
                </a:solidFill>
                <a:latin typeface="IBM Plex Sans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36024" y="2423160"/>
            <a:ext cx="242316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36024" y="2423160"/>
            <a:ext cx="2423160" cy="82296"/>
          </a:xfrm>
          <a:prstGeom prst="rect">
            <a:avLst/>
          </a:prstGeom>
          <a:solidFill>
            <a:srgbClr val="F1C21B"/>
          </a:solidFill>
          <a:ln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73184" y="2688336"/>
            <a:ext cx="214884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1616"/>
                </a:solidFill>
                <a:latin typeface="IBM Plex Sans"/>
              </a:defRPr>
            </a:pPr>
            <a:r>
              <a:t>4  OPTIONAL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3099816"/>
            <a:ext cx="2130552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Find relevant rows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Granite explains them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161616"/>
                </a:solidFill>
                <a:latin typeface="IBM Plex Sans"/>
              </a:defRPr>
            </a:pPr>
            <a:r>
              <a:t>The structured compatibility records remain the source of truth.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04  / 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61616"/>
                </a:solidFill>
                <a:latin typeface="IBM Plex Sans"/>
              </a:defRPr>
            </a:pPr>
            <a:r>
              <a:t>The app: five ways to use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64240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65392"/>
            <a:ext cx="98755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Presentation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47104"/>
            <a:ext cx="566928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525252"/>
                </a:solidFill>
                <a:latin typeface="IBM Plex Sans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783080"/>
            <a:ext cx="3456432" cy="162763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50292" cy="1627632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47672"/>
            <a:ext cx="3072384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41448"/>
            <a:ext cx="3072384" cy="8778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Portfolio totals, status charts, vendor summary, review list.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35424" y="1783080"/>
            <a:ext cx="3456432" cy="162763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1783080"/>
            <a:ext cx="50292" cy="1627632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947672"/>
            <a:ext cx="3072384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Compatibility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441448"/>
            <a:ext cx="3072384" cy="8778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Filter by target release, vendor, status, PTF, or search.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7615" y="1783080"/>
            <a:ext cx="3456432" cy="162763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57615" y="1783080"/>
            <a:ext cx="50292" cy="1627632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8784" y="1947672"/>
            <a:ext cx="3072384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Check my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2441448"/>
            <a:ext cx="3072384" cy="8778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Choose products or upload a Vendor / Product / VRM inventory.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776472"/>
            <a:ext cx="3456432" cy="162763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776472"/>
            <a:ext cx="50292" cy="1627632"/>
          </a:xfrm>
          <a:prstGeom prst="rect">
            <a:avLst/>
          </a:prstGeom>
          <a:solidFill>
            <a:srgbClr val="F1C21B"/>
          </a:solidFill>
          <a:ln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41063"/>
            <a:ext cx="3072384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Ask watsonx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34840"/>
            <a:ext cx="3072384" cy="8778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Ask a question and inspect the matching evidence rows.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5424" y="3776472"/>
            <a:ext cx="3456432" cy="162763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35424" y="3776472"/>
            <a:ext cx="50292" cy="1627632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3941063"/>
            <a:ext cx="3072384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4434840"/>
            <a:ext cx="3072384" cy="8778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Open the vendor reference pages used to verify details.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70448"/>
            <a:ext cx="103327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25252"/>
                </a:solidFill>
                <a:latin typeface="IBM Plex Sans"/>
              </a:defRPr>
            </a:pPr>
            <a:r>
              <a:t>All views use the same selected z/OS release and compatibility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05  /  DATA AND BUSINESS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61616"/>
                </a:solidFill>
                <a:latin typeface="IBM Plex Sans"/>
              </a:defRPr>
            </a:pPr>
            <a:r>
              <a:t>CompatibilityDB: the data steward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64240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65392"/>
            <a:ext cx="98755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Presentation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47104"/>
            <a:ext cx="566928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525252"/>
                </a:solidFill>
                <a:latin typeface="IBM Plex Sans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874519"/>
            <a:ext cx="100584" cy="10058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1764792"/>
            <a:ext cx="6620256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161616"/>
                </a:solidFill>
                <a:latin typeface="IBM Plex Sans"/>
              </a:defRPr>
            </a:pPr>
            <a:r>
              <a:t>Reads and combines the six vendor CSV files.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697480"/>
            <a:ext cx="100584" cy="10058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2587752"/>
            <a:ext cx="6620256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161616"/>
                </a:solidFill>
                <a:latin typeface="IBM Plex Sans"/>
              </a:defRPr>
            </a:pPr>
            <a:r>
              <a:t>Keeps records in a standard shape and removes duplicate Vendor + Product + VRM rows.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520440"/>
            <a:ext cx="100584" cy="10058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3410712"/>
            <a:ext cx="6620256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161616"/>
                </a:solidFill>
                <a:latin typeface="IBM Plex Sans"/>
              </a:defRPr>
            </a:pPr>
            <a:r>
              <a:t>Matches inventory using vendor, product name, and VRM.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343400"/>
            <a:ext cx="100584" cy="10058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4233672"/>
            <a:ext cx="6620256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161616"/>
                </a:solidFill>
                <a:latin typeface="IBM Plex Sans"/>
              </a:defRPr>
            </a:pPr>
            <a:r>
              <a:t>Calculates summaries, filters rows, and builds Excel workbooks.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874519"/>
            <a:ext cx="2971800" cy="320040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2148840"/>
            <a:ext cx="25603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A6C8FF"/>
                </a:solidFill>
                <a:latin typeface="IBM Plex Sans"/>
              </a:defRPr>
            </a:pPr>
            <a:r>
              <a:t>ONE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788920"/>
            <a:ext cx="2542032" cy="1691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IBM Plex Sans"/>
              </a:defRPr>
            </a:pPr>
            <a:r>
              <a:t>Vendor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IBM Plex Sans"/>
              </a:defRPr>
            </a:pPr>
            <a:r>
              <a:t>Product + VRM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IBM Plex Sans"/>
              </a:defRPr>
            </a:pPr>
            <a:r>
              <a:t>z/OS status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IBM Plex Sans"/>
              </a:defRPr>
            </a:pPr>
            <a:r>
              <a:t>PTF + EOS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IBM Plex Sans"/>
              </a:defRPr>
            </a:pPr>
            <a:r>
              <a:t>Comments + 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321808"/>
            <a:ext cx="297180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525252"/>
                </a:solidFill>
                <a:latin typeface="IBM Plex Sans"/>
              </a:defRPr>
            </a:pPr>
            <a:r>
              <a:t>VRM = Version, Release, Modification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06  /  INTERPRETING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61616"/>
                </a:solidFill>
                <a:latin typeface="IBM Plex Sans"/>
              </a:defRPr>
            </a:pPr>
            <a:r>
              <a:t>What the compatibility statuses 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64240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65392"/>
            <a:ext cx="98755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Presentation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47104"/>
            <a:ext cx="566928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525252"/>
                </a:solidFill>
                <a:latin typeface="IBM Plex Sans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55648"/>
            <a:ext cx="2148840" cy="585216"/>
          </a:xfrm>
          <a:prstGeom prst="rect">
            <a:avLst/>
          </a:prstGeom>
          <a:solidFill>
            <a:srgbClr val="24A148"/>
          </a:solidFill>
          <a:ln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FFFFFF"/>
                </a:solidFill>
                <a:latin typeface="IBM Plex Sans"/>
              </a:defRPr>
            </a:pPr>
            <a: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828800"/>
            <a:ext cx="75895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161616"/>
                </a:solidFill>
                <a:latin typeface="IBM Plex Sans"/>
              </a:defRPr>
            </a:pPr>
            <a:r>
              <a:t>The supplied data reports support.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606040"/>
            <a:ext cx="2148840" cy="585216"/>
          </a:xfrm>
          <a:prstGeom prst="rect">
            <a:avLst/>
          </a:prstGeom>
          <a:solidFill>
            <a:srgbClr val="DA1E28"/>
          </a:solidFill>
          <a:ln>
            <a:solidFill>
              <a:srgbClr val="DA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724912"/>
            <a:ext cx="20116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FFFFFF"/>
                </a:solidFill>
                <a:latin typeface="IBM Plex Sans"/>
              </a:defRPr>
            </a:pPr>
            <a: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679192"/>
            <a:ext cx="75895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161616"/>
                </a:solidFill>
                <a:latin typeface="IBM Plex Sans"/>
              </a:defRPr>
            </a:pPr>
            <a:r>
              <a:t>The supplied data reports no support.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456432"/>
            <a:ext cx="2148840" cy="585216"/>
          </a:xfrm>
          <a:prstGeom prst="rect">
            <a:avLst/>
          </a:prstGeom>
          <a:solidFill>
            <a:srgbClr val="F1C21B"/>
          </a:solidFill>
          <a:ln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575304"/>
            <a:ext cx="20116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61616"/>
                </a:solidFill>
                <a:latin typeface="IBM Plex Sans"/>
              </a:defRPr>
            </a:pPr>
            <a:r>
              <a:t>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3529584"/>
            <a:ext cx="75895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161616"/>
                </a:solidFill>
                <a:latin typeface="IBM Plex Sans"/>
              </a:defRPr>
            </a:pPr>
            <a:r>
              <a:t>The vendor reports support is in progress.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306824"/>
            <a:ext cx="2148840" cy="585216"/>
          </a:xfrm>
          <a:prstGeom prst="rect">
            <a:avLst/>
          </a:prstGeom>
          <a:solidFill>
            <a:srgbClr val="A8A8A8"/>
          </a:solidFill>
          <a:ln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425696"/>
            <a:ext cx="20116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61616"/>
                </a:solidFill>
                <a:latin typeface="IBM Plex Sans"/>
              </a:defRPr>
            </a:pPr>
            <a:r>
              <a:t>UNVERIFIED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4379976"/>
            <a:ext cx="75895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161616"/>
                </a:solidFill>
                <a:latin typeface="IBM Plex Sans"/>
              </a:defRPr>
            </a:pPr>
            <a:r>
              <a:t>No vendor statement was found in this dataset.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5349240"/>
            <a:ext cx="10287000" cy="621792"/>
          </a:xfrm>
          <a:prstGeom prst="rect">
            <a:avLst/>
          </a:prstGeom>
          <a:solidFill>
            <a:srgbClr val="FFF3CD"/>
          </a:solidFill>
          <a:ln>
            <a:solidFill>
              <a:srgbClr val="FFF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468112"/>
            <a:ext cx="992124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Important: Unverified does not mean compatible. A Yes result may still require a PTF.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07  /  THE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61616"/>
                </a:solidFill>
                <a:latin typeface="IBM Plex Sans"/>
              </a:defRPr>
            </a:pPr>
            <a:r>
              <a:t>RAG: search first, explain second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64240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65392"/>
            <a:ext cx="98755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Presentation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47104"/>
            <a:ext cx="566928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525252"/>
                </a:solidFill>
                <a:latin typeface="IBM Plex Sans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176272"/>
            <a:ext cx="2423160" cy="153619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176272"/>
            <a:ext cx="2423160" cy="73152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468880"/>
            <a:ext cx="2167128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1616"/>
                </a:solidFill>
                <a:latin typeface="IBM Plex Sans"/>
              </a:defRPr>
            </a:pPr>
            <a:r>
              <a:t>1 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89504"/>
            <a:ext cx="2093976" cy="6126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“Does product X need a PTF?”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743200"/>
            <a:ext cx="384048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0F62FE"/>
                </a:solidFill>
                <a:latin typeface="IBM Plex Sans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2176272"/>
            <a:ext cx="2423160" cy="153619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7872" y="2176272"/>
            <a:ext cx="2423160" cy="73152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468880"/>
            <a:ext cx="2167128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1616"/>
                </a:solidFill>
                <a:latin typeface="IBM Plex Sans"/>
              </a:defRPr>
            </a:pPr>
            <a:r>
              <a:t>2  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3" y="2889504"/>
            <a:ext cx="2093976" cy="6126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TF-IDF ranks matching records.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2743200"/>
            <a:ext cx="384048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0F62FE"/>
                </a:solidFill>
                <a:latin typeface="IBM Plex Sans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37376" y="2176272"/>
            <a:ext cx="2423160" cy="153619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37376" y="2176272"/>
            <a:ext cx="2423160" cy="73152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468880"/>
            <a:ext cx="2167128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1616"/>
                </a:solidFill>
                <a:latin typeface="IBM Plex Sans"/>
              </a:defRPr>
            </a:pPr>
            <a:r>
              <a:t>3  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889504"/>
            <a:ext cx="2093976" cy="6126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Relevant CSV rows become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2743200"/>
            <a:ext cx="384048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0F62FE"/>
                </a:solidFill>
                <a:latin typeface="IBM Plex Sans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2176272"/>
            <a:ext cx="2423160" cy="153619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0" y="2176272"/>
            <a:ext cx="2423160" cy="73152"/>
          </a:xfrm>
          <a:prstGeom prst="rect">
            <a:avLst/>
          </a:prstGeom>
          <a:solidFill>
            <a:srgbClr val="F1C21B"/>
          </a:solidFill>
          <a:ln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54896" y="2468880"/>
            <a:ext cx="2167128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1616"/>
                </a:solidFill>
                <a:latin typeface="IBM Plex Sans"/>
              </a:defRPr>
            </a:pPr>
            <a:r>
              <a:t>4  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2889504"/>
            <a:ext cx="2093976" cy="6126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Optional watsonx.ai Granite writes an answer.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343400"/>
            <a:ext cx="102412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F62FE"/>
                </a:solidFill>
                <a:latin typeface="IBM Plex Sans"/>
              </a:defRPr>
            </a:pPr>
            <a:r>
              <a:t>No watsonx.ai credentials? The app still shows the matching records.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074920"/>
            <a:ext cx="992124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RAG here is TF-IDF text matching—not a live vendor search, vector database, or watsonx Assistant integration.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08  /  EXAMPLE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61616"/>
                </a:solidFill>
                <a:latin typeface="IBM Plex Sans"/>
              </a:defRPr>
            </a:pPr>
            <a:r>
              <a:t>A planner's journey through the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64240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65392"/>
            <a:ext cx="98755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Presentation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47104"/>
            <a:ext cx="566928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525252"/>
                </a:solidFill>
                <a:latin typeface="IBM Plex Sans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04288"/>
            <a:ext cx="1975104" cy="215798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1" y="2532888"/>
            <a:ext cx="457200" cy="45720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" y="2615184"/>
            <a:ext cx="438912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IBM Plex San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182112"/>
            <a:ext cx="16459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Choose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657600"/>
            <a:ext cx="1645920" cy="6766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Select the target z/OS release.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2971800"/>
            <a:ext cx="310896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F62FE"/>
                </a:solidFill>
                <a:latin typeface="IBM Plex Sans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53511" y="2304288"/>
            <a:ext cx="1975104" cy="215798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18103" y="2532888"/>
            <a:ext cx="457200" cy="45720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7247" y="2615184"/>
            <a:ext cx="438912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IBM Plex San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3" y="3182112"/>
            <a:ext cx="16459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3" y="3657600"/>
            <a:ext cx="1645920" cy="6766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See status counts and items needing attention.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2971800"/>
            <a:ext cx="310896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F62FE"/>
                </a:solidFill>
                <a:latin typeface="IBM Plex Sans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66944" y="2304288"/>
            <a:ext cx="1975104" cy="215798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31536" y="2532888"/>
            <a:ext cx="457200" cy="45720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2615184"/>
            <a:ext cx="438912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IBM Plex San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3182112"/>
            <a:ext cx="16459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3657600"/>
            <a:ext cx="1645920" cy="6766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Filter the matrix or upload product inventory.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2971800"/>
            <a:ext cx="310896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F62FE"/>
                </a:solidFill>
                <a:latin typeface="IBM Plex Sans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0375" y="2304288"/>
            <a:ext cx="1975104" cy="215798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44967" y="2532888"/>
            <a:ext cx="457200" cy="45720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1" y="2615184"/>
            <a:ext cx="438912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IBM Plex San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4967" y="3182112"/>
            <a:ext cx="16459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7" y="3657600"/>
            <a:ext cx="1645920" cy="6766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Review blockers, PTFs, and unknowns.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64624" y="2971800"/>
            <a:ext cx="310896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F62FE"/>
                </a:solidFill>
                <a:latin typeface="IBM Plex Sans"/>
              </a:defRPr>
            </a:pPr>
            <a: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93807" y="2304288"/>
            <a:ext cx="1975104" cy="215798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399" y="2532888"/>
            <a:ext cx="457200" cy="45720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67543" y="2615184"/>
            <a:ext cx="438912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IBM Plex Sans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399" y="3182112"/>
            <a:ext cx="16459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Share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399" y="3657600"/>
            <a:ext cx="1645920" cy="6766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Open vendor sources and export an Excel report.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The outcome is a clearer, traceable starting point—not an automatic production approval.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09  /  SAFE USE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61616"/>
                </a:solidFill>
                <a:latin typeface="IBM Plex Sans"/>
              </a:defRPr>
            </a:pPr>
            <a:r>
              <a:t>Trust the evidence—and know the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64240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65392"/>
            <a:ext cx="98755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Presentation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47104"/>
            <a:ext cx="566928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525252"/>
                </a:solidFill>
                <a:latin typeface="IBM Plex Sans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783080"/>
            <a:ext cx="5257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50292" cy="182880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47672"/>
            <a:ext cx="4873752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Data is a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41448"/>
            <a:ext cx="4873752" cy="1078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The app reads packaged CSV files. It is not a live vendor compatibility feed.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5257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50292" cy="1828800"/>
          </a:xfrm>
          <a:prstGeom prst="rect">
            <a:avLst/>
          </a:prstGeom>
          <a:solidFill>
            <a:srgbClr val="24A148"/>
          </a:solidFill>
          <a:ln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947672"/>
            <a:ext cx="4873752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Verify before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441448"/>
            <a:ext cx="4873752" cy="1078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Use the source links and confirm support, PTFs, and dates with the vendor.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822191"/>
            <a:ext cx="5257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822191"/>
            <a:ext cx="50292" cy="1828800"/>
          </a:xfrm>
          <a:prstGeom prst="rect">
            <a:avLst/>
          </a:prstGeom>
          <a:solidFill>
            <a:srgbClr val="DA1E28"/>
          </a:solidFill>
          <a:ln>
            <a:solidFill>
              <a:srgbClr val="DA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86783"/>
            <a:ext cx="4873752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Protect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0559"/>
            <a:ext cx="4873752" cy="1078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Store API keys in a secret manager; do not put them in code or the image.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822191"/>
            <a:ext cx="5257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822191"/>
            <a:ext cx="50292" cy="1828800"/>
          </a:xfrm>
          <a:prstGeom prst="rect">
            <a:avLst/>
          </a:prstGeom>
          <a:solidFill>
            <a:srgbClr val="F1C21B"/>
          </a:solidFill>
          <a:ln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986783"/>
            <a:ext cx="4873752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Assistant is separate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480559"/>
            <a:ext cx="4873752" cy="1078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Granite uses watsonx.ai. Direct watsonx Assistant data lookup needs a secure API/webhook.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105156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A6C8FF"/>
                </a:solidFill>
                <a:latin typeface="IBM Plex Sans"/>
              </a:defRPr>
            </a:pPr>
            <a:r>
              <a:t>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1234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IBM Plex Sans"/>
              </a:defRPr>
            </a:pPr>
            <a:r>
              <a:t>Know what is supported.</a:t>
            </a:r>
          </a:p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IBM Plex Sans"/>
              </a:defRPr>
            </a:pPr>
            <a:r>
              <a:t>See what needs attention.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3063240"/>
            <a:ext cx="987552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C6C6C6"/>
                </a:solidFill>
                <a:latin typeface="IBM Plex Sans"/>
              </a:defRPr>
            </a:pPr>
            <a:r>
              <a:t>Use the records to plan, follow the evidence, and confirm with vendors before production changes.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4343400"/>
            <a:ext cx="1051560" cy="64008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4700016"/>
            <a:ext cx="98755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A6C8FF"/>
                </a:solidFill>
                <a:latin typeface="IBM Plex Sans"/>
              </a:defRPr>
            </a:pPr>
            <a: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6437376"/>
            <a:ext cx="9601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8A8A8"/>
                </a:solidFill>
                <a:latin typeface="IBM Plex Sans"/>
              </a:defRPr>
            </a:pPr>
            <a:r>
              <a:t>Counts describe the packaged dataset and can change when CSV files are updated.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